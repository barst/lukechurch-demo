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7"/>
          </a:solidFill>
          <a:ln w="12700">
            <a:solidFill>
              <a:srgbClr val="F7F0E7"/>
            </a:solidFill>
            <a:prstDash val="solid"/>
          </a:ln>
        </p:spPr>
      </p:sp>
      <p:pic>
        <p:nvPicPr>
          <p:cNvPr id="3" name="Image 0" descr="C:\Users\barst\OneDrive\文件\WebProject\LukeChurch\public\assets\church-view.jpg">    </p:cNvPr>
          <p:cNvPicPr>
            <a:picLocks noChangeAspect="1"/>
          </p:cNvPicPr>
          <p:nvPr/>
        </p:nvPicPr>
        <p:blipFill>
          <a:blip r:embed="rId1"/>
          <a:srcRect l="28695" r="28695" t="0" b="0"/>
          <a:stretch/>
        </p:blipFill>
        <p:spPr>
          <a:xfrm>
            <a:off x="6995160" y="0"/>
            <a:ext cx="5193792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6995160" cy="6858000"/>
          </a:xfrm>
          <a:prstGeom prst="rect">
            <a:avLst/>
          </a:prstGeom>
          <a:solidFill>
            <a:srgbClr val="F7F0E7"/>
          </a:solidFill>
          <a:ln w="12700">
            <a:solidFill>
              <a:srgbClr val="F7F0E7"/>
            </a:solidFill>
            <a:prstDash val="solid"/>
          </a:ln>
        </p:spPr>
      </p:sp>
      <p:pic>
        <p:nvPicPr>
          <p:cNvPr id="5" name="Image 1" descr="C:\Users\barst\OneDrive\文件\WebProject\LukeChurch\public\assets\bulletin-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94360"/>
            <a:ext cx="868680" cy="868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169164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路加教會官網與週報系統</a:t>
            </a:r>
            <a:endParaRPr lang="en-US" sz="2700" dirty="0"/>
          </a:p>
        </p:txBody>
      </p:sp>
      <p:sp>
        <p:nvSpPr>
          <p:cNvPr id="7" name="Text 3"/>
          <p:cNvSpPr/>
          <p:nvPr/>
        </p:nvSpPr>
        <p:spPr>
          <a:xfrm>
            <a:off x="640080" y="23317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D37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第一階段示意簡報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40080" y="2880360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5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目標：先落地 QR Code 掃碼看本週週報，再擴充為教會官網、歷史週報與直播發布流程。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40080" y="507492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B76A34"/>
          </a:solidFill>
          <a:ln w="12700">
            <a:solidFill>
              <a:srgbClr val="B76A3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41248" y="523036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DF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可先用 GitHub Pages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424160" y="64282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Luke Church Proposal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7"/>
          </a:solidFill>
          <a:ln w="12700">
            <a:solidFill>
              <a:srgbClr val="F7F0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37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CURRENT PAIN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4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目前問題與導入原因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9844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不是先解決排版，而是先解決週報資料散落、上架不穩與歷史難回查。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1792" y="178308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FFFDF9"/>
          </a:solidFill>
          <a:ln w="12700">
            <a:solidFill>
              <a:srgbClr val="C8B79E"/>
            </a:solidFill>
            <a:prstDash val="solid"/>
          </a:ln>
          <a:effectLst>
            <a:outerShdw sx="100000" sy="100000" kx="0" ky="0" algn="bl" rotWithShape="0" blurRad="12700" dist="50800" dir="2700000">
              <a:srgbClr val="B8A48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" y="1947672"/>
            <a:ext cx="109728" cy="859536"/>
          </a:xfrm>
          <a:prstGeom prst="rect">
            <a:avLst/>
          </a:prstGeom>
          <a:solidFill>
            <a:srgbClr val="B76A34"/>
          </a:solidFill>
          <a:ln w="12700">
            <a:solidFill>
              <a:srgbClr val="B76A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842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資料來源混亂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313432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週報最終檔常在 LINE 互傳，正式 PDF 沒有回放到雲端硬碟，導致版本、歷史與後續上架全部斷掉。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" y="315468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FFFDF9"/>
          </a:solidFill>
          <a:ln w="12700">
            <a:solidFill>
              <a:srgbClr val="C8B79E"/>
            </a:solidFill>
            <a:prstDash val="solid"/>
          </a:ln>
          <a:effectLst>
            <a:outerShdw sx="100000" sy="100000" kx="0" ky="0" algn="bl" rotWithShape="0" blurRad="12700" dist="50800" dir="2700000">
              <a:srgbClr val="B8A48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86384" y="3319272"/>
            <a:ext cx="109728" cy="859536"/>
          </a:xfrm>
          <a:prstGeom prst="rect">
            <a:avLst/>
          </a:prstGeom>
          <a:solidFill>
            <a:srgbClr val="7B8452"/>
          </a:solidFill>
          <a:ln w="12700">
            <a:solidFill>
              <a:srgbClr val="7B84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3558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現場資訊入口不一致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3685032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會友現場拿到紙本、LINE、Facebook、直播說明欄，各自看到的資訊不同，缺少一個固定入口。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" y="452628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FFFDF9"/>
          </a:solidFill>
          <a:ln w="12700">
            <a:solidFill>
              <a:srgbClr val="C8B79E"/>
            </a:solidFill>
            <a:prstDash val="solid"/>
          </a:ln>
          <a:effectLst>
            <a:outerShdw sx="100000" sy="100000" kx="0" ky="0" algn="bl" rotWithShape="0" blurRad="12700" dist="50800" dir="2700000">
              <a:srgbClr val="B8A48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6384" y="4690872"/>
            <a:ext cx="109728" cy="859536"/>
          </a:xfrm>
          <a:prstGeom prst="rect">
            <a:avLst/>
          </a:prstGeom>
          <a:solidFill>
            <a:srgbClr val="8B4C25"/>
          </a:solidFill>
          <a:ln w="12700">
            <a:solidFill>
              <a:srgbClr val="8B4C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7274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同工重工太多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5056632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每次拿到 PDF 後還要手動貼官網、整理宣傳文案、更新直播資訊，且每次都重新做一次。</a:t>
            </a:r>
            <a:endParaRPr lang="en-US" sz="1100" dirty="0"/>
          </a:p>
        </p:txBody>
      </p:sp>
      <p:pic>
        <p:nvPicPr>
          <p:cNvPr id="18" name="Image 0" descr="C:\Users\barst\OneDrive\文件\WebProject\LukeChurch\tmp\pdfs\bulletin-pag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8782" y="1664208"/>
            <a:ext cx="6440468" cy="455371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956048" y="58064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7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現有 PDF 版面已足夠作為第一階段唯一正式來源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424160" y="64282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Luke Church Proposal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7"/>
          </a:solidFill>
          <a:ln w="12700">
            <a:solidFill>
              <a:srgbClr val="F7F0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37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4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第一階段範圍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9844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維持同工手工排版，系統只負責 PDF 之後的上架、發布與歷史建檔。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5394960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A24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正式來源改回雲端硬碟週報資料夾，LINE 只作通知，不作正式來源。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A24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建立固定入口 `/weekly/`，椅背 QR Code 永遠只指向本週最新週報。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A24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每一期同步建立日期頁，例如 `/bulletins/2026-03-22.html`，作為歷史紀錄。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A24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自動產出官網週報頁、Facebook 宣傳文案草稿、直播說明欄草稿。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A24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週報自動排版與自動生成 PDF，不列入第一階段。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0" y="182880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FFFDF9"/>
          </a:solidFill>
          <a:ln w="12700">
            <a:solidFill>
              <a:srgbClr val="C8B79E"/>
            </a:solidFill>
            <a:prstDash val="solid"/>
          </a:ln>
          <a:effectLst>
            <a:outerShdw sx="100000" sy="100000" kx="0" ky="0" algn="bl" rotWithShape="0" blurRad="12700" dist="50800" dir="2700000">
              <a:srgbClr val="B8A48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748272" y="1993392"/>
            <a:ext cx="109728" cy="1042416"/>
          </a:xfrm>
          <a:prstGeom prst="rect">
            <a:avLst/>
          </a:prstGeom>
          <a:solidFill>
            <a:srgbClr val="B76A34"/>
          </a:solidFill>
          <a:ln w="12700">
            <a:solidFill>
              <a:srgbClr val="B76A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67728" y="202996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固定入口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67728" y="2359152"/>
            <a:ext cx="1618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https://.../weekly/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5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主日現場、QR Code、社群快速入口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006840" y="182880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FFFDF9"/>
          </a:solidFill>
          <a:ln w="12700">
            <a:solidFill>
              <a:srgbClr val="C8B79E"/>
            </a:solidFill>
            <a:prstDash val="solid"/>
          </a:ln>
          <a:effectLst>
            <a:outerShdw sx="100000" sy="100000" kx="0" ky="0" algn="bl" rotWithShape="0" blurRad="12700" dist="50800" dir="2700000">
              <a:srgbClr val="B8A48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71432" y="1993392"/>
            <a:ext cx="109728" cy="1042416"/>
          </a:xfrm>
          <a:prstGeom prst="rect">
            <a:avLst/>
          </a:prstGeom>
          <a:solidFill>
            <a:srgbClr val="7B8452"/>
          </a:solidFill>
          <a:ln w="12700">
            <a:solidFill>
              <a:srgbClr val="7B84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90888" y="202996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日期歷史頁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390888" y="2359152"/>
            <a:ext cx="1892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https://.../bulletins/2026-03-22.html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5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可分享、可搜尋、可保存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3611880"/>
            <a:ext cx="4846320" cy="1554480"/>
          </a:xfrm>
          <a:prstGeom prst="roundRect">
            <a:avLst>
              <a:gd name="adj" fmla="val 4706"/>
            </a:avLst>
          </a:prstGeom>
          <a:solidFill>
            <a:srgbClr val="FFFDF9"/>
          </a:solidFill>
          <a:ln w="12700">
            <a:solidFill>
              <a:srgbClr val="C8B79E"/>
            </a:solidFill>
            <a:prstDash val="solid"/>
          </a:ln>
          <a:effectLst>
            <a:outerShdw sx="100000" sy="100000" kx="0" ky="0" algn="bl" rotWithShape="0" blurRad="12700" dist="50800" dir="2700000">
              <a:srgbClr val="B8A48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48272" y="3776472"/>
            <a:ext cx="109728" cy="1225296"/>
          </a:xfrm>
          <a:prstGeom prst="rect">
            <a:avLst/>
          </a:prstGeom>
          <a:solidFill>
            <a:srgbClr val="8B4C25"/>
          </a:solidFill>
          <a:ln w="12700">
            <a:solidFill>
              <a:srgbClr val="8B4C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67728" y="381304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正式來源規則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67728" y="4142232"/>
            <a:ext cx="43159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週報同工排版完成後，必須把最終 PDF 放回 `P:\我的雲端硬碟\路加教會資源\3A禮拜部\週報\` 才能觸發後續流程。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424160" y="64282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Luke Church Proposal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7"/>
          </a:solidFill>
          <a:ln w="12700">
            <a:solidFill>
              <a:srgbClr val="F7F0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37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4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週報 PDF 到對外發布的流程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9844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PDF 為單一正式來源，系統處理上架與草稿，人工處理最後核准。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783080"/>
            <a:ext cx="566928" cy="502920"/>
          </a:xfrm>
          <a:prstGeom prst="roundRect">
            <a:avLst>
              <a:gd name="adj" fmla="val 14545"/>
            </a:avLst>
          </a:prstGeom>
          <a:solidFill>
            <a:srgbClr val="B76A34"/>
          </a:solidFill>
          <a:ln w="12700">
            <a:solidFill>
              <a:srgbClr val="B76A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911096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DF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181051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4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週報同工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99232" y="17830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完成手工排版 PDF，放回雲端硬碟正式資料夾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2679192"/>
            <a:ext cx="566928" cy="502920"/>
          </a:xfrm>
          <a:prstGeom prst="roundRect">
            <a:avLst>
              <a:gd name="adj" fmla="val 14545"/>
            </a:avLst>
          </a:prstGeom>
          <a:solidFill>
            <a:srgbClr val="B76A34"/>
          </a:solidFill>
          <a:ln w="12700">
            <a:solidFill>
              <a:srgbClr val="B76A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" y="2807208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DF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00200" y="2706624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4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同工行政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99232" y="267919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確認最終版已回存，觸發匯入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3575304"/>
            <a:ext cx="566928" cy="502920"/>
          </a:xfrm>
          <a:prstGeom prst="roundRect">
            <a:avLst>
              <a:gd name="adj" fmla="val 14545"/>
            </a:avLst>
          </a:prstGeom>
          <a:solidFill>
            <a:srgbClr val="B76A34"/>
          </a:solidFill>
          <a:ln w="12700">
            <a:solidFill>
              <a:srgbClr val="B76A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370332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DF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00200" y="3602736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4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資訊同工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99232" y="357530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抽出日期、講題、經文、公告與服事表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4471416"/>
            <a:ext cx="566928" cy="502920"/>
          </a:xfrm>
          <a:prstGeom prst="roundRect">
            <a:avLst>
              <a:gd name="adj" fmla="val 14545"/>
            </a:avLst>
          </a:prstGeom>
          <a:solidFill>
            <a:srgbClr val="7B8452"/>
          </a:solidFill>
          <a:ln w="12700">
            <a:solidFill>
              <a:srgbClr val="B76A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" y="4599432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DF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00200" y="4498848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4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系統輸出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999232" y="447141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`/weekly/` 與日期頁，並產生 FB / 直播草稿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5367528"/>
            <a:ext cx="566928" cy="502920"/>
          </a:xfrm>
          <a:prstGeom prst="roundRect">
            <a:avLst>
              <a:gd name="adj" fmla="val 14545"/>
            </a:avLst>
          </a:prstGeom>
          <a:solidFill>
            <a:srgbClr val="B76A34"/>
          </a:solidFill>
          <a:ln w="12700">
            <a:solidFill>
              <a:srgbClr val="B76A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544" y="5495544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DF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00200" y="539496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4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人工確認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999232" y="53675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牧師與行政確認內容後對外發布</a:t>
            </a:r>
            <a:endParaRPr lang="en-US" sz="1100" dirty="0"/>
          </a:p>
        </p:txBody>
      </p:sp>
      <p:pic>
        <p:nvPicPr>
          <p:cNvPr id="26" name="Image 0" descr="C:\Users\barst\OneDrive\文件\WebProject\LukeChurch\tmp\pdfs\bulletin-pag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2513174"/>
            <a:ext cx="4297680" cy="3038661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0424160" y="64282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Luke Church Proposal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7"/>
          </a:solidFill>
          <a:ln w="12700">
            <a:solidFill>
              <a:srgbClr val="F7F0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37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4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示意版網站與部署策略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9844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 GitHub Pages 做展示，再切換到 Cloudflare Pages 當正式環境。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FFFDF9"/>
          </a:solidFill>
          <a:ln w="12700">
            <a:solidFill>
              <a:srgbClr val="C8B79E"/>
            </a:solidFill>
            <a:prstDash val="solid"/>
          </a:ln>
          <a:effectLst>
            <a:outerShdw sx="100000" sy="100000" kx="0" ky="0" algn="bl" rotWithShape="0" blurRad="12700" dist="50800" dir="2700000">
              <a:srgbClr val="B8A48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0392" y="1901952"/>
            <a:ext cx="109728" cy="996696"/>
          </a:xfrm>
          <a:prstGeom prst="rect">
            <a:avLst/>
          </a:prstGeom>
          <a:solidFill>
            <a:srgbClr val="B76A34"/>
          </a:solidFill>
          <a:ln w="12700">
            <a:solidFill>
              <a:srgbClr val="B76A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19385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Pages Demo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9848" y="2267712"/>
            <a:ext cx="29443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適合先做上層報告、示意操作與網址展示。現有靜態站已可直接作為 demo 使用。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29184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FFFDF9"/>
          </a:solidFill>
          <a:ln w="12700">
            <a:solidFill>
              <a:srgbClr val="C8B79E"/>
            </a:solidFill>
            <a:prstDash val="solid"/>
          </a:ln>
          <a:effectLst>
            <a:outerShdw sx="100000" sy="100000" kx="0" ky="0" algn="bl" rotWithShape="0" blurRad="12700" dist="50800" dir="2700000">
              <a:srgbClr val="B8A48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50392" y="3456432"/>
            <a:ext cx="109728" cy="996696"/>
          </a:xfrm>
          <a:prstGeom prst="rect">
            <a:avLst/>
          </a:prstGeom>
          <a:solidFill>
            <a:srgbClr val="7B8452"/>
          </a:solidFill>
          <a:ln w="12700">
            <a:solidFill>
              <a:srgbClr val="7B84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34930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Cloudflare Pages 正式環境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69848" y="3822192"/>
            <a:ext cx="29443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正式站建議用 Cloudflare Pages + Git integration，後續可擴充 Functions、DNS 與正式網域。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4846320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FFFDF9"/>
          </a:solidFill>
          <a:ln w="12700">
            <a:solidFill>
              <a:srgbClr val="C8B79E"/>
            </a:solidFill>
            <a:prstDash val="solid"/>
          </a:ln>
          <a:effectLst>
            <a:outerShdw sx="100000" sy="100000" kx="0" ky="0" algn="bl" rotWithShape="0" blurRad="12700" dist="50800" dir="2700000">
              <a:srgbClr val="B8A48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" y="5010912"/>
            <a:ext cx="109728" cy="813816"/>
          </a:xfrm>
          <a:prstGeom prst="rect">
            <a:avLst/>
          </a:prstGeom>
          <a:solidFill>
            <a:srgbClr val="8B4C25"/>
          </a:solidFill>
          <a:ln w="12700">
            <a:solidFill>
              <a:srgbClr val="8B4C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50474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QR Code 邏輯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69848" y="5376672"/>
            <a:ext cx="2944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與正式站都維持同一個規則：`/weekly/` 永遠顯示最新週報。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783080"/>
            <a:ext cx="6903720" cy="4297680"/>
          </a:xfrm>
          <a:prstGeom prst="roundRect">
            <a:avLst>
              <a:gd name="adj" fmla="val 1702"/>
            </a:avLst>
          </a:prstGeom>
          <a:solidFill>
            <a:srgbClr val="FFFDF9"/>
          </a:solidFill>
          <a:ln w="12700">
            <a:solidFill>
              <a:srgbClr val="C8B7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9933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4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建議網址結構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83480" y="2468880"/>
            <a:ext cx="6035040" cy="2651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A24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首頁：`/`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A24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本週週報：`/weekly/`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A24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歷史週報：`/bulletins/2026-03-22.html`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A24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後續活動：`/events/`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A24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後續講道：`/sermons/`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A24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社群簡介統一放首頁，現場 QR Code 統一放 `/weekly/`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5257800"/>
            <a:ext cx="5989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37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建議操作：先將示意站放 GitHub Pages 做報告，再用同樣內容切到 Cloudflare Pages 綁正式網域。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424160" y="64282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Luke Church Proposal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7"/>
          </a:solidFill>
          <a:ln w="12700">
            <a:solidFill>
              <a:srgbClr val="F7F0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37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VALUE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4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預期效益與後續藍圖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9844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第一階段先把資料來源與對外入口做穩，第二階段再串直播、社群與更多自動化。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7830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DF9"/>
          </a:solidFill>
          <a:ln w="12700">
            <a:solidFill>
              <a:srgbClr val="C8B79E"/>
            </a:solidFill>
            <a:prstDash val="solid"/>
          </a:ln>
          <a:effectLst>
            <a:outerShdw sx="100000" sy="100000" kx="0" ky="0" algn="bl" rotWithShape="0" blurRad="12700" dist="50800" dir="2700000">
              <a:srgbClr val="B8A48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947672"/>
            <a:ext cx="109728" cy="1088136"/>
          </a:xfrm>
          <a:prstGeom prst="rect">
            <a:avLst/>
          </a:prstGeom>
          <a:solidFill>
            <a:srgbClr val="B76A34"/>
          </a:solidFill>
          <a:ln w="12700">
            <a:solidFill>
              <a:srgbClr val="B76A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198424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第一階段效益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42416" y="2313432"/>
            <a:ext cx="30815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主日現場掃碼看本週週報、資料回到正式雲端資料夾、歷史週報可逐步批次建檔。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" y="3456432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DF9"/>
          </a:solidFill>
          <a:ln w="12700">
            <a:solidFill>
              <a:srgbClr val="C8B79E"/>
            </a:solidFill>
            <a:prstDash val="solid"/>
          </a:ln>
          <a:effectLst>
            <a:outerShdw sx="100000" sy="100000" kx="0" ky="0" algn="bl" rotWithShape="0" blurRad="12700" dist="50800" dir="2700000">
              <a:srgbClr val="B8A48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3621024"/>
            <a:ext cx="109728" cy="1088136"/>
          </a:xfrm>
          <a:prstGeom prst="rect">
            <a:avLst/>
          </a:prstGeom>
          <a:solidFill>
            <a:srgbClr val="7B8452"/>
          </a:solidFill>
          <a:ln w="12700">
            <a:solidFill>
              <a:srgbClr val="7B84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36576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管理效益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42416" y="3986784"/>
            <a:ext cx="30815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減少 LINE 傳檔與重工，讓官網、週報、社群公告逐步指向同一套資料來源。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" y="5120640"/>
            <a:ext cx="3611880" cy="1005840"/>
          </a:xfrm>
          <a:prstGeom prst="roundRect">
            <a:avLst>
              <a:gd name="adj" fmla="val 7273"/>
            </a:avLst>
          </a:prstGeom>
          <a:solidFill>
            <a:srgbClr val="FFFDF9"/>
          </a:solidFill>
          <a:ln w="12700">
            <a:solidFill>
              <a:srgbClr val="C8B79E"/>
            </a:solidFill>
            <a:prstDash val="solid"/>
          </a:ln>
          <a:effectLst>
            <a:outerShdw sx="100000" sy="100000" kx="0" ky="0" algn="bl" rotWithShape="0" blurRad="12700" dist="50800" dir="2700000">
              <a:srgbClr val="B8A48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5285232"/>
            <a:ext cx="109728" cy="676656"/>
          </a:xfrm>
          <a:prstGeom prst="rect">
            <a:avLst/>
          </a:prstGeom>
          <a:solidFill>
            <a:srgbClr val="8B4C25"/>
          </a:solidFill>
          <a:ln w="12700">
            <a:solidFill>
              <a:srgbClr val="8B4C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532180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第二階段方向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42416" y="5650992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 PDF 後的直播縮圖、YouTube 開台、直播說明欄與 Facebook 宣傳流程。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24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上層決策建議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663440" y="2331720"/>
            <a:ext cx="6400800" cy="2560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A24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核准第一階段以「PDF 為正式來源」進行，不變動同工排版流程。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A24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指定一個正式雲端資料夾作為唯一來源，要求最終版一定回存。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A24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 GitHub Pages 做簡報 demo，正式環境再切 Cloudflare Pages。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A24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核准資訊同工開始做歷史週報匯入器與 `/weekly/` 更新機制。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773168" y="5193792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B76A34"/>
          </a:solidFill>
          <a:ln w="12700">
            <a:solidFill>
              <a:srgbClr val="B76A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5422392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DF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建議先核准 Demo 與第一階段匯入流程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424160" y="64282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5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Luke Church Proposal 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Luke Church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路加教會官網與週報系統規劃</dc:title>
  <dc:subject>路加教會官網與週報系統簡報示意版</dc:subject>
  <dc:creator>OpenAI Codex</dc:creator>
  <cp:lastModifiedBy>OpenAI Codex</cp:lastModifiedBy>
  <cp:revision>1</cp:revision>
  <dcterms:created xsi:type="dcterms:W3CDTF">2026-03-23T20:13:36Z</dcterms:created>
  <dcterms:modified xsi:type="dcterms:W3CDTF">2026-03-23T20:13:36Z</dcterms:modified>
</cp:coreProperties>
</file>